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8288000" cy="10287000"/>
  <p:notesSz cx="6858000" cy="9144000"/>
  <p:embeddedFontLst>
    <p:embeddedFont>
      <p:font typeface="Roboto" panose="02000000000000000000" pitchFamily="2" charset="0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65EF"/>
    <a:srgbClr val="A39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474" y="-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11" Type="http://schemas.openxmlformats.org/officeDocument/2006/relationships/image" Target="../media/image4.png"/><Relationship Id="rId5" Type="http://schemas.openxmlformats.org/officeDocument/2006/relationships/image" Target="../media/image9.jpeg"/><Relationship Id="rId10" Type="http://schemas.openxmlformats.org/officeDocument/2006/relationships/image" Target="../media/image14.jpg"/><Relationship Id="rId4" Type="http://schemas.openxmlformats.org/officeDocument/2006/relationships/image" Target="../media/image8.jpeg"/><Relationship Id="rId9" Type="http://schemas.openxmlformats.org/officeDocument/2006/relationships/image" Target="../media/image1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4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rbanmobilityindia.in/" TargetMode="External"/><Relationship Id="rId7" Type="http://schemas.openxmlformats.org/officeDocument/2006/relationships/hyperlink" Target="https://arxiv.org/abs/1906.07575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mdpi.com/2079-9292/11/5/834" TargetMode="External"/><Relationship Id="rId5" Type="http://schemas.openxmlformats.org/officeDocument/2006/relationships/hyperlink" Target="https://mohua.gov.in/" TargetMode="External"/><Relationship Id="rId4" Type="http://schemas.openxmlformats.org/officeDocument/2006/relationships/hyperlink" Target="https://www.niti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17821" y="1693748"/>
            <a:ext cx="6957907" cy="7732451"/>
          </a:xfrm>
          <a:custGeom>
            <a:avLst/>
            <a:gdLst/>
            <a:ahLst/>
            <a:cxnLst/>
            <a:rect l="l" t="t" r="r" b="b"/>
            <a:pathLst>
              <a:path w="6957907" h="7732451">
                <a:moveTo>
                  <a:pt x="0" y="0"/>
                </a:moveTo>
                <a:lnTo>
                  <a:pt x="6957908" y="0"/>
                </a:lnTo>
                <a:lnTo>
                  <a:pt x="6957908" y="7732450"/>
                </a:lnTo>
                <a:lnTo>
                  <a:pt x="0" y="7732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912322" y="3556101"/>
            <a:ext cx="4805264" cy="5139356"/>
            <a:chOff x="0" y="0"/>
            <a:chExt cx="6407018" cy="68524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49475" b="-1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4762049" y="9446"/>
            <a:ext cx="3313680" cy="1684302"/>
            <a:chOff x="0" y="0"/>
            <a:chExt cx="4418240" cy="2245736"/>
          </a:xfrm>
        </p:grpSpPr>
        <p:sp>
          <p:nvSpPr>
            <p:cNvPr id="6" name="Freeform 6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570410" y="2825312"/>
            <a:ext cx="12538478" cy="5546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7515" lvl="1" indent="-457200" algn="just">
              <a:lnSpc>
                <a:spcPts val="744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Bold"/>
              </a:rPr>
              <a:t>Problem Statement ID – SIH25013</a:t>
            </a:r>
          </a:p>
          <a:p>
            <a:pPr marL="737713" lvl="1" indent="-457200" algn="just">
              <a:lnSpc>
                <a:spcPts val="744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Bold"/>
              </a:rPr>
              <a:t>Theme- Transportation &amp; Logistics</a:t>
            </a:r>
          </a:p>
          <a:p>
            <a:pPr marL="737713" lvl="1" indent="-457200" algn="just">
              <a:lnSpc>
                <a:spcPts val="744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Bold"/>
              </a:rPr>
              <a:t>Problem Statement - </a:t>
            </a:r>
            <a:r>
              <a:rPr lang="en-US" sz="28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nva Sans Bold"/>
              </a:rPr>
              <a:t>Real-Time Public Transport Tracking for Small Cities</a:t>
            </a:r>
            <a:endParaRPr lang="en-US" sz="28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Open Sans Bold"/>
            </a:endParaRPr>
          </a:p>
          <a:p>
            <a:pPr marL="737515" lvl="1" indent="-457200" algn="just">
              <a:lnSpc>
                <a:spcPts val="744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Bold"/>
              </a:rPr>
              <a:t>PS Category- Software/Hardware</a:t>
            </a:r>
          </a:p>
          <a:p>
            <a:pPr marL="737713" lvl="1" indent="-457200" algn="just">
              <a:lnSpc>
                <a:spcPts val="744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Bold"/>
              </a:rPr>
              <a:t>Team Name : </a:t>
            </a:r>
            <a:r>
              <a:rPr lang="en-US" sz="28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Bold"/>
              </a:rPr>
              <a:t>xDevs</a:t>
            </a:r>
            <a:endParaRPr lang="en-US" sz="28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Open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228375" y="547660"/>
            <a:ext cx="10887631" cy="78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9"/>
              </a:lnSpc>
              <a:spcBef>
                <a:spcPct val="0"/>
              </a:spcBef>
            </a:pPr>
            <a:r>
              <a:rPr lang="en-US" sz="5099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Times New Roman Bold"/>
              </a:rPr>
              <a:t>SMART INDIA HACKATHON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8221" y="-323989"/>
            <a:ext cx="14478734" cy="1673113"/>
            <a:chOff x="0" y="0"/>
            <a:chExt cx="21945600" cy="25359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535958"/>
            </a:xfrm>
            <a:custGeom>
              <a:avLst/>
              <a:gdLst/>
              <a:ahLst/>
              <a:cxnLst/>
              <a:rect l="l" t="t" r="r" b="b"/>
              <a:pathLst>
                <a:path w="21945600" h="2535958">
                  <a:moveTo>
                    <a:pt x="0" y="0"/>
                  </a:moveTo>
                  <a:lnTo>
                    <a:pt x="21945600" y="0"/>
                  </a:lnTo>
                  <a:lnTo>
                    <a:pt x="21945600" y="2535958"/>
                  </a:lnTo>
                  <a:lnTo>
                    <a:pt x="0" y="2535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21945600" cy="26407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algn="ctr">
                <a:lnSpc>
                  <a:spcPts val="5160"/>
                </a:lnSpc>
              </a:pPr>
              <a:r>
                <a:rPr lang="en-US" sz="4300" b="1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Times New Roman Bold"/>
                </a:rPr>
                <a:t>Real-Time Public Transport Tracking for Small Cities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762049" y="85645"/>
            <a:ext cx="3313680" cy="1684302"/>
            <a:chOff x="0" y="0"/>
            <a:chExt cx="4418240" cy="2245736"/>
          </a:xfrm>
        </p:grpSpPr>
        <p:sp>
          <p:nvSpPr>
            <p:cNvPr id="9" name="Freeform 9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5067284" y="1418250"/>
            <a:ext cx="5880607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Proposed Solution - </a:t>
            </a:r>
            <a:r>
              <a:rPr lang="en-US" sz="3199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BusGo</a:t>
            </a:r>
            <a:endParaRPr lang="en-US" sz="3199" b="1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 Bold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C8D003-4CFE-3AD7-9B86-8957D79D56DB}"/>
              </a:ext>
            </a:extLst>
          </p:cNvPr>
          <p:cNvSpPr txBox="1"/>
          <p:nvPr/>
        </p:nvSpPr>
        <p:spPr>
          <a:xfrm>
            <a:off x="535786" y="2572480"/>
            <a:ext cx="8608214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QR + GPS Hybrid System</a:t>
            </a:r>
            <a:r>
              <a:rPr lang="en-US" sz="2400" dirty="0"/>
              <a:t> – Each bus and stop has a QR code; drivers scan bus QR to activate GPS tracking, commuters scan stop QR to view upcoming buses.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Driver App</a:t>
            </a:r>
            <a:r>
              <a:rPr lang="en-US" sz="2400" dirty="0"/>
              <a:t> – Simple mobile app for drivers to start/end trips, automatically sending real-time GPS updates to the 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Commuter App</a:t>
            </a:r>
            <a:r>
              <a:rPr lang="en-US" sz="2400" dirty="0"/>
              <a:t> – Passengers can search routes or scan stop QR to view </a:t>
            </a:r>
            <a:r>
              <a:rPr lang="en-US" sz="2400" b="1" dirty="0"/>
              <a:t>live bus locations, ETAs, and next departure times</a:t>
            </a:r>
            <a:r>
              <a:rPr lang="en-US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Admin Dashboard</a:t>
            </a:r>
            <a:r>
              <a:rPr lang="en-US" sz="2400" dirty="0"/>
              <a:t> – Transport authorities create/manage routes, generate QRs, and monitor bus operations through a clean web interface.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Landmark &amp; Geofencing-Based Tracking</a:t>
            </a:r>
            <a:r>
              <a:rPr lang="en-US" sz="2400" dirty="0"/>
              <a:t> – System updates bus location at stops/landmarks to provide accurate ETAs, even in low-internet areas.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Lightweight &amp; Scalable</a:t>
            </a:r>
            <a:r>
              <a:rPr lang="en-US" sz="2400" dirty="0"/>
              <a:t> – Works on low bandwidth, supports offline caching, and requires minimal infrastructure (only smartphones + QR stickers).</a:t>
            </a:r>
          </a:p>
          <a:p>
            <a:endParaRPr lang="en-IN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998AA9D-9763-15F9-E7C6-E2D7024DE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8482" y="1905563"/>
            <a:ext cx="9399517" cy="7851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05C447-032A-88F9-2788-AC2A0BA9F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41DB9F9-73F5-B290-7BE6-4869366A8662}"/>
              </a:ext>
            </a:extLst>
          </p:cNvPr>
          <p:cNvSpPr/>
          <p:nvPr/>
        </p:nvSpPr>
        <p:spPr>
          <a:xfrm>
            <a:off x="9525000" y="5171648"/>
            <a:ext cx="8153400" cy="5143500"/>
          </a:xfrm>
          <a:prstGeom prst="roundRect">
            <a:avLst>
              <a:gd name="adj" fmla="val 6319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C95D027-5513-7A96-70D9-C87021EB69BE}"/>
              </a:ext>
            </a:extLst>
          </p:cNvPr>
          <p:cNvSpPr/>
          <p:nvPr/>
        </p:nvSpPr>
        <p:spPr>
          <a:xfrm>
            <a:off x="228600" y="5143500"/>
            <a:ext cx="8305800" cy="5143500"/>
          </a:xfrm>
          <a:prstGeom prst="roundRect">
            <a:avLst>
              <a:gd name="adj" fmla="val 6319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7E61C6E-7EA0-1DBE-0874-6BE119C3419A}"/>
              </a:ext>
            </a:extLst>
          </p:cNvPr>
          <p:cNvSpPr/>
          <p:nvPr/>
        </p:nvSpPr>
        <p:spPr>
          <a:xfrm>
            <a:off x="228600" y="1485900"/>
            <a:ext cx="17449800" cy="3429000"/>
          </a:xfrm>
          <a:prstGeom prst="roundRect">
            <a:avLst>
              <a:gd name="adj" fmla="val 5921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ADE00F31-9059-C6D2-31EA-E83DCE278BCA}"/>
              </a:ext>
            </a:extLst>
          </p:cNvPr>
          <p:cNvGrpSpPr/>
          <p:nvPr/>
        </p:nvGrpSpPr>
        <p:grpSpPr>
          <a:xfrm>
            <a:off x="13411200" y="9534530"/>
            <a:ext cx="4267200" cy="547688"/>
            <a:chOff x="0" y="0"/>
            <a:chExt cx="5689600" cy="73025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AD8E335-2AB3-F7C8-86BF-8676EF7F48B2}"/>
                </a:ext>
              </a:extLst>
            </p:cNvPr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0147B9C-0D1D-105B-D7F4-C2C0AF88CAFB}"/>
                </a:ext>
              </a:extLst>
            </p:cNvPr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mo Bold"/>
                </a:rPr>
                <a:t>2</a:t>
              </a:r>
            </a:p>
          </p:txBody>
        </p:sp>
      </p:grpSp>
      <p:sp>
        <p:nvSpPr>
          <p:cNvPr id="30" name="TextBox 11">
            <a:extLst>
              <a:ext uri="{FF2B5EF4-FFF2-40B4-BE49-F238E27FC236}">
                <a16:creationId xmlns:a16="http://schemas.microsoft.com/office/drawing/2014/main" id="{70C564AB-BBAB-1E38-52E4-A5D29B611FA6}"/>
              </a:ext>
            </a:extLst>
          </p:cNvPr>
          <p:cNvSpPr txBox="1"/>
          <p:nvPr/>
        </p:nvSpPr>
        <p:spPr>
          <a:xfrm>
            <a:off x="3228375" y="547660"/>
            <a:ext cx="10887631" cy="78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9"/>
              </a:lnSpc>
              <a:spcBef>
                <a:spcPct val="0"/>
              </a:spcBef>
            </a:pPr>
            <a:r>
              <a:rPr lang="en-US" sz="5099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Times New Roman Bold"/>
              </a:rPr>
              <a:t>User Interfaces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9E2793E-B984-F66E-2828-F7EBA1BCF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744361"/>
            <a:ext cx="5493543" cy="29441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7951BCF-12F5-32A9-A24F-198E9B5B0A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9600" y="1744361"/>
            <a:ext cx="5348008" cy="29441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FF83A8F-92A0-663B-CE1E-598C632ED3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150" y="5544398"/>
            <a:ext cx="2157411" cy="45596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625125D-3D65-3121-E30F-86AA7D1D73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7743" y="5544398"/>
            <a:ext cx="2157410" cy="46117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5613B6D-0CE8-5B13-D4AB-C52B91910E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9341" y="5544400"/>
            <a:ext cx="2336648" cy="46117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511D495-5389-468B-7043-1375EE43FA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5544403"/>
            <a:ext cx="2126456" cy="461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824EB7D-F46C-2BFE-5479-431C9BC090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1733" y="5544398"/>
            <a:ext cx="2157410" cy="4611793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A6CB90E-634D-56F0-7B08-FF4F10B229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55" y="1744361"/>
            <a:ext cx="5715000" cy="29441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41806E4-95F7-503C-2DA1-ADB574433C2F}"/>
              </a:ext>
            </a:extLst>
          </p:cNvPr>
          <p:cNvSpPr/>
          <p:nvPr/>
        </p:nvSpPr>
        <p:spPr>
          <a:xfrm>
            <a:off x="851173" y="1273628"/>
            <a:ext cx="2571328" cy="41443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Admin Screens</a:t>
            </a:r>
            <a:endParaRPr lang="en-IN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0F55F150-C426-945E-471F-3D23062C5F9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7571" y="5544399"/>
            <a:ext cx="2336648" cy="4611793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8" name="Group 8">
            <a:extLst>
              <a:ext uri="{FF2B5EF4-FFF2-40B4-BE49-F238E27FC236}">
                <a16:creationId xmlns:a16="http://schemas.microsoft.com/office/drawing/2014/main" id="{42C91406-8766-D17B-9ACD-D1D36D2E5D56}"/>
              </a:ext>
            </a:extLst>
          </p:cNvPr>
          <p:cNvGrpSpPr/>
          <p:nvPr/>
        </p:nvGrpSpPr>
        <p:grpSpPr>
          <a:xfrm>
            <a:off x="14762049" y="85645"/>
            <a:ext cx="3313680" cy="1684302"/>
            <a:chOff x="0" y="0"/>
            <a:chExt cx="4418240" cy="2245736"/>
          </a:xfrm>
        </p:grpSpPr>
        <p:sp>
          <p:nvSpPr>
            <p:cNvPr id="9" name="Freeform 9" descr="https://www.sih.gov.in/img1/SIH-Logo.png">
              <a:extLst>
                <a:ext uri="{FF2B5EF4-FFF2-40B4-BE49-F238E27FC236}">
                  <a16:creationId xmlns:a16="http://schemas.microsoft.com/office/drawing/2014/main" id="{272AA544-F0A2-8461-FCFC-3CE495E0616C}"/>
                </a:ext>
              </a:extLst>
            </p:cNvPr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503532F-C9A9-A92E-69DC-CF481B98202E}"/>
              </a:ext>
            </a:extLst>
          </p:cNvPr>
          <p:cNvSpPr/>
          <p:nvPr/>
        </p:nvSpPr>
        <p:spPr>
          <a:xfrm>
            <a:off x="759127" y="4971197"/>
            <a:ext cx="2469248" cy="400903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Driver’s Screens</a:t>
            </a:r>
            <a:endParaRPr lang="en-IN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30F9A57-965B-509F-3CE4-BA812408C716}"/>
              </a:ext>
            </a:extLst>
          </p:cNvPr>
          <p:cNvSpPr/>
          <p:nvPr/>
        </p:nvSpPr>
        <p:spPr>
          <a:xfrm>
            <a:off x="9958495" y="5015121"/>
            <a:ext cx="2469248" cy="400903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Commuter’s Screens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505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06400" y="9534530"/>
            <a:ext cx="4267200" cy="547688"/>
            <a:chOff x="0" y="0"/>
            <a:chExt cx="5689600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mo Bold"/>
                </a:rPr>
                <a:t>3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62049" y="85645"/>
            <a:ext cx="3313680" cy="1684302"/>
            <a:chOff x="0" y="0"/>
            <a:chExt cx="4418240" cy="2245736"/>
          </a:xfrm>
        </p:grpSpPr>
        <p:sp>
          <p:nvSpPr>
            <p:cNvPr id="6" name="Freeform 6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2363882" y="387669"/>
            <a:ext cx="13560234" cy="847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76"/>
              </a:lnSpc>
              <a:spcBef>
                <a:spcPct val="0"/>
              </a:spcBef>
            </a:pPr>
            <a:r>
              <a:rPr lang="en-US" sz="5730" b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Times New Roman Bold"/>
              </a:rPr>
              <a:t>TECHNICAL APPROACH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5F1AF26-B07A-1093-1160-5BE6EC734B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2276806"/>
            <a:ext cx="10684301" cy="63718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D1D394-FB1E-82FF-D0EF-D24BFD2002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89946" l="2753" r="98140">
                        <a14:foregroundMark x1="20982" y1="21920" x2="72842" y2="19112"/>
                        <a14:foregroundMark x1="72842" y1="19112" x2="92783" y2="21739"/>
                        <a14:foregroundMark x1="92783" y1="21739" x2="94940" y2="54982"/>
                        <a14:foregroundMark x1="94940" y1="54982" x2="85491" y2="62138"/>
                        <a14:foregroundMark x1="85491" y1="62138" x2="51711" y2="57699"/>
                        <a14:foregroundMark x1="51711" y1="57699" x2="30060" y2="62319"/>
                        <a14:foregroundMark x1="30060" y1="62319" x2="20313" y2="60507"/>
                        <a14:foregroundMark x1="20313" y1="60507" x2="10863" y2="50453"/>
                        <a14:foregroundMark x1="10863" y1="50453" x2="12574" y2="37591"/>
                        <a14:foregroundMark x1="12574" y1="37591" x2="23363" y2="27989"/>
                        <a14:foregroundMark x1="23363" y1="27989" x2="21503" y2="22464"/>
                        <a14:foregroundMark x1="2902" y1="1721" x2="15030" y2="725"/>
                        <a14:foregroundMark x1="15030" y1="725" x2="85491" y2="5797"/>
                        <a14:foregroundMark x1="85491" y1="5797" x2="95387" y2="28895"/>
                        <a14:foregroundMark x1="95387" y1="28895" x2="99107" y2="68297"/>
                        <a14:foregroundMark x1="99107" y1="68297" x2="97024" y2="82971"/>
                        <a14:foregroundMark x1="97024" y1="82971" x2="87798" y2="91214"/>
                        <a14:foregroundMark x1="87798" y1="91214" x2="71949" y2="96649"/>
                        <a14:foregroundMark x1="71949" y1="96649" x2="53125" y2="90127"/>
                        <a14:foregroundMark x1="53125" y1="90127" x2="7292" y2="84873"/>
                        <a14:foregroundMark x1="7292" y1="84873" x2="744" y2="79891"/>
                        <a14:foregroundMark x1="744" y1="79891" x2="5357" y2="60779"/>
                        <a14:foregroundMark x1="5357" y1="60779" x2="2753" y2="0"/>
                        <a14:foregroundMark x1="28795" y1="32428" x2="28795" y2="32428"/>
                        <a14:foregroundMark x1="17039" y1="22464" x2="29985" y2="23188"/>
                        <a14:foregroundMark x1="29985" y1="23188" x2="50223" y2="32156"/>
                        <a14:foregroundMark x1="50223" y1="32156" x2="32738" y2="43659"/>
                        <a14:foregroundMark x1="32738" y1="43659" x2="14286" y2="32065"/>
                        <a14:foregroundMark x1="14286" y1="32065" x2="22173" y2="19928"/>
                        <a14:foregroundMark x1="22173" y1="19928" x2="26339" y2="18750"/>
                        <a14:foregroundMark x1="29167" y1="8333" x2="44048" y2="5797"/>
                        <a14:foregroundMark x1="44048" y1="5797" x2="79539" y2="8967"/>
                        <a14:foregroundMark x1="79539" y1="8967" x2="71205" y2="14946"/>
                        <a14:foregroundMark x1="71205" y1="14946" x2="40848" y2="19928"/>
                        <a14:foregroundMark x1="40848" y1="19928" x2="28348" y2="15308"/>
                        <a14:foregroundMark x1="28348" y1="15308" x2="32143" y2="7971"/>
                        <a14:foregroundMark x1="32143" y1="7971" x2="31324" y2="7790"/>
                        <a14:foregroundMark x1="52976" y1="23460" x2="65327" y2="22736"/>
                        <a14:foregroundMark x1="65327" y1="22736" x2="92113" y2="26721"/>
                        <a14:foregroundMark x1="92113" y1="26721" x2="90327" y2="36051"/>
                        <a14:foregroundMark x1="90327" y1="36051" x2="74702" y2="40399"/>
                        <a14:foregroundMark x1="74702" y1="40399" x2="53423" y2="37681"/>
                        <a14:foregroundMark x1="53423" y1="37681" x2="50372" y2="29982"/>
                        <a14:foregroundMark x1="50372" y1="29982" x2="55134" y2="24728"/>
                        <a14:foregroundMark x1="21503" y1="27446" x2="53795" y2="32609"/>
                        <a14:foregroundMark x1="53795" y1="32609" x2="51637" y2="42120"/>
                        <a14:foregroundMark x1="51637" y1="42120" x2="37351" y2="44565"/>
                        <a14:foregroundMark x1="37351" y1="44565" x2="18452" y2="40851"/>
                        <a14:foregroundMark x1="18452" y1="40851" x2="18899" y2="27355"/>
                        <a14:foregroundMark x1="18899" y1="27355" x2="28869" y2="16667"/>
                        <a14:foregroundMark x1="28869" y1="16667" x2="30952" y2="26178"/>
                        <a14:foregroundMark x1="30952" y1="26178" x2="25074" y2="27446"/>
                        <a14:foregroundMark x1="24033" y1="29257" x2="30804" y2="29167"/>
                        <a14:foregroundMark x1="30804" y1="29167" x2="37723" y2="33424"/>
                        <a14:foregroundMark x1="37723" y1="33424" x2="27902" y2="39130"/>
                        <a14:foregroundMark x1="27902" y1="39130" x2="22768" y2="33062"/>
                        <a14:foregroundMark x1="22768" y1="33062" x2="24554" y2="29710"/>
                        <a14:foregroundMark x1="26711" y1="31431" x2="26711" y2="31431"/>
                        <a14:foregroundMark x1="90848" y1="53986" x2="90848" y2="53986"/>
                        <a14:foregroundMark x1="94940" y1="62319" x2="94940" y2="62319"/>
                        <a14:foregroundMark x1="83333" y1="63134" x2="83333" y2="63134"/>
                        <a14:foregroundMark x1="45610" y1="60145" x2="86235" y2="56341"/>
                        <a14:foregroundMark x1="86235" y1="56341" x2="95015" y2="60236"/>
                        <a14:foregroundMark x1="95015" y1="60236" x2="89286" y2="64402"/>
                        <a14:foregroundMark x1="89286" y1="64402" x2="50000" y2="65308"/>
                        <a14:foregroundMark x1="50000" y1="65308" x2="45982" y2="59601"/>
                        <a14:foregroundMark x1="92485" y1="50634" x2="54539" y2="52083"/>
                        <a14:foregroundMark x1="54539" y1="52083" x2="62426" y2="57609"/>
                        <a14:foregroundMark x1="62426" y1="57609" x2="89211" y2="58243"/>
                        <a14:foregroundMark x1="89211" y1="58243" x2="98140" y2="57699"/>
                        <a14:foregroundMark x1="98140" y1="57699" x2="89435" y2="50634"/>
                        <a14:foregroundMark x1="29911" y1="27446" x2="24851" y2="35688"/>
                        <a14:foregroundMark x1="24851" y1="35688" x2="31622" y2="32065"/>
                        <a14:foregroundMark x1="31622" y1="32065" x2="30432" y2="26902"/>
                        <a14:foregroundMark x1="56920" y1="69293" x2="48884" y2="68841"/>
                        <a14:foregroundMark x1="48884" y1="68841" x2="43452" y2="75634"/>
                        <a14:foregroundMark x1="43452" y1="75634" x2="45015" y2="85145"/>
                        <a14:foregroundMark x1="45015" y1="85145" x2="61161" y2="88225"/>
                        <a14:foregroundMark x1="61161" y1="88225" x2="76488" y2="88043"/>
                        <a14:foregroundMark x1="76488" y1="88043" x2="88095" y2="83696"/>
                        <a14:foregroundMark x1="88095" y1="83696" x2="85789" y2="71286"/>
                        <a14:foregroundMark x1="85789" y1="71286" x2="55134" y2="68931"/>
                        <a14:foregroundMark x1="41667" y1="73732" x2="7813" y2="69928"/>
                        <a14:foregroundMark x1="7813" y1="69928" x2="6771" y2="77355"/>
                        <a14:foregroundMark x1="6771" y1="77355" x2="20164" y2="82790"/>
                        <a14:foregroundMark x1="20164" y1="82790" x2="43601" y2="81159"/>
                        <a14:foregroundMark x1="43601" y1="81159" x2="41146" y2="73279"/>
                        <a14:foregroundMark x1="41146" y1="73279" x2="40476" y2="73913"/>
                        <a14:foregroundMark x1="36905" y1="73732" x2="29464" y2="77355"/>
                        <a14:foregroundMark x1="29464" y1="77355" x2="43080" y2="80072"/>
                        <a14:foregroundMark x1="43080" y1="80072" x2="35268" y2="72917"/>
                        <a14:foregroundMark x1="35268" y1="72917" x2="33482" y2="7373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2299" y="1957553"/>
            <a:ext cx="7104974" cy="63718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B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4">
            <a:extLst>
              <a:ext uri="{FF2B5EF4-FFF2-40B4-BE49-F238E27FC236}">
                <a16:creationId xmlns:a16="http://schemas.microsoft.com/office/drawing/2014/main" id="{DA2847C6-B069-7BB1-85D7-347FEC1CE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29" y="6896100"/>
            <a:ext cx="8457371" cy="1708727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4615CDFB-246B-E1FA-3EE7-6885D897E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29" y="3279601"/>
            <a:ext cx="8480271" cy="1703533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5CF10563-224D-C4D8-F5BE-807150E67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915" y="5067300"/>
            <a:ext cx="8480271" cy="1708727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426688" y="2544660"/>
            <a:ext cx="4976511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36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Feasibility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85327" y="3797425"/>
            <a:ext cx="5398216" cy="266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46"/>
              </a:lnSpc>
            </a:pPr>
            <a:r>
              <a:rPr lang="en-US" sz="3200" b="1" dirty="0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Technological</a:t>
            </a:r>
            <a:r>
              <a:rPr lang="en-US" sz="2800" b="1" dirty="0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 Readiness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5405" y="4152900"/>
            <a:ext cx="8041993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dirty="0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Leverages readily available smartphones, GPS, and QR technology, avoiding complex hardware.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5327" y="5449261"/>
            <a:ext cx="4815758" cy="266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46"/>
              </a:lnSpc>
            </a:pPr>
            <a:r>
              <a:rPr lang="en-US" sz="3200" b="1" dirty="0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Economic Efficiency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5405" y="6013831"/>
            <a:ext cx="8058900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dirty="0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Low deployment cost, requiring only QR code stickers and basic smartphone access.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3132" y="7843722"/>
            <a:ext cx="8058900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dirty="0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Designed for easy and uniform rollout across multiple cities using the same underlying infrastructure.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32700" y="2626450"/>
            <a:ext cx="688999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36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Navigating Challenges &amp; Risks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332717" y="3308032"/>
            <a:ext cx="3940522" cy="1378268"/>
            <a:chOff x="0" y="0"/>
            <a:chExt cx="5254030" cy="1837691"/>
          </a:xfrm>
        </p:grpSpPr>
        <p:sp>
          <p:nvSpPr>
            <p:cNvPr id="35" name="Freeform 35"/>
            <p:cNvSpPr/>
            <p:nvPr/>
          </p:nvSpPr>
          <p:spPr>
            <a:xfrm>
              <a:off x="6350" y="6826"/>
              <a:ext cx="5241290" cy="1823912"/>
            </a:xfrm>
            <a:custGeom>
              <a:avLst/>
              <a:gdLst/>
              <a:ahLst/>
              <a:cxnLst/>
              <a:rect l="l" t="t" r="r" b="b"/>
              <a:pathLst>
                <a:path w="5241290" h="1823912">
                  <a:moveTo>
                    <a:pt x="0" y="80547"/>
                  </a:moveTo>
                  <a:cubicBezTo>
                    <a:pt x="0" y="36041"/>
                    <a:pt x="33782" y="0"/>
                    <a:pt x="75311" y="0"/>
                  </a:cubicBezTo>
                  <a:lnTo>
                    <a:pt x="5165979" y="0"/>
                  </a:lnTo>
                  <a:cubicBezTo>
                    <a:pt x="5207635" y="0"/>
                    <a:pt x="5241290" y="36041"/>
                    <a:pt x="5241290" y="80547"/>
                  </a:cubicBezTo>
                  <a:lnTo>
                    <a:pt x="5241290" y="1743365"/>
                  </a:lnTo>
                  <a:cubicBezTo>
                    <a:pt x="5241290" y="1787871"/>
                    <a:pt x="5207508" y="1823912"/>
                    <a:pt x="5165979" y="1823912"/>
                  </a:cubicBezTo>
                  <a:lnTo>
                    <a:pt x="75311" y="1823912"/>
                  </a:lnTo>
                  <a:cubicBezTo>
                    <a:pt x="33655" y="1823912"/>
                    <a:pt x="0" y="1787871"/>
                    <a:pt x="0" y="1743365"/>
                  </a:cubicBezTo>
                  <a:close/>
                </a:path>
              </a:pathLst>
            </a:custGeom>
            <a:solidFill>
              <a:srgbClr val="A89DE6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5253990" cy="1837564"/>
            </a:xfrm>
            <a:custGeom>
              <a:avLst/>
              <a:gdLst/>
              <a:ahLst/>
              <a:cxnLst/>
              <a:rect l="l" t="t" r="r" b="b"/>
              <a:pathLst>
                <a:path w="5253990" h="1837564">
                  <a:moveTo>
                    <a:pt x="0" y="87373"/>
                  </a:moveTo>
                  <a:cubicBezTo>
                    <a:pt x="0" y="39045"/>
                    <a:pt x="36576" y="0"/>
                    <a:pt x="81661" y="0"/>
                  </a:cubicBezTo>
                  <a:lnTo>
                    <a:pt x="5172329" y="0"/>
                  </a:lnTo>
                  <a:lnTo>
                    <a:pt x="5172329" y="6826"/>
                  </a:lnTo>
                  <a:lnTo>
                    <a:pt x="5172329" y="0"/>
                  </a:lnTo>
                  <a:cubicBezTo>
                    <a:pt x="5217414" y="0"/>
                    <a:pt x="5253990" y="39045"/>
                    <a:pt x="5253990" y="87373"/>
                  </a:cubicBezTo>
                  <a:lnTo>
                    <a:pt x="5247640" y="87373"/>
                  </a:lnTo>
                  <a:lnTo>
                    <a:pt x="5253990" y="87373"/>
                  </a:lnTo>
                  <a:lnTo>
                    <a:pt x="5253990" y="1750191"/>
                  </a:lnTo>
                  <a:lnTo>
                    <a:pt x="5247640" y="1750191"/>
                  </a:lnTo>
                  <a:lnTo>
                    <a:pt x="5253990" y="1750191"/>
                  </a:lnTo>
                  <a:cubicBezTo>
                    <a:pt x="5253990" y="1798519"/>
                    <a:pt x="5217414" y="1837564"/>
                    <a:pt x="5172329" y="1837564"/>
                  </a:cubicBezTo>
                  <a:lnTo>
                    <a:pt x="5172329" y="1830738"/>
                  </a:lnTo>
                  <a:lnTo>
                    <a:pt x="5172329" y="1837564"/>
                  </a:lnTo>
                  <a:lnTo>
                    <a:pt x="81661" y="1837564"/>
                  </a:lnTo>
                  <a:lnTo>
                    <a:pt x="81661" y="1830738"/>
                  </a:lnTo>
                  <a:lnTo>
                    <a:pt x="81661" y="1837564"/>
                  </a:lnTo>
                  <a:cubicBezTo>
                    <a:pt x="36576" y="1837564"/>
                    <a:pt x="0" y="1798519"/>
                    <a:pt x="0" y="1750191"/>
                  </a:cubicBezTo>
                  <a:lnTo>
                    <a:pt x="0" y="87373"/>
                  </a:lnTo>
                  <a:lnTo>
                    <a:pt x="6350" y="87373"/>
                  </a:lnTo>
                  <a:lnTo>
                    <a:pt x="0" y="87373"/>
                  </a:lnTo>
                  <a:moveTo>
                    <a:pt x="12700" y="87373"/>
                  </a:moveTo>
                  <a:lnTo>
                    <a:pt x="12700" y="1750191"/>
                  </a:lnTo>
                  <a:lnTo>
                    <a:pt x="6350" y="1750191"/>
                  </a:lnTo>
                  <a:lnTo>
                    <a:pt x="12700" y="1750191"/>
                  </a:lnTo>
                  <a:cubicBezTo>
                    <a:pt x="12700" y="1790874"/>
                    <a:pt x="43561" y="1823912"/>
                    <a:pt x="81661" y="1823912"/>
                  </a:cubicBezTo>
                  <a:lnTo>
                    <a:pt x="5172329" y="1823912"/>
                  </a:lnTo>
                  <a:cubicBezTo>
                    <a:pt x="5210429" y="1823912"/>
                    <a:pt x="5241290" y="1790874"/>
                    <a:pt x="5241290" y="1750191"/>
                  </a:cubicBezTo>
                  <a:lnTo>
                    <a:pt x="5241290" y="87373"/>
                  </a:lnTo>
                  <a:cubicBezTo>
                    <a:pt x="5241290" y="46690"/>
                    <a:pt x="5210429" y="13652"/>
                    <a:pt x="5172329" y="13652"/>
                  </a:cubicBezTo>
                  <a:lnTo>
                    <a:pt x="81661" y="13652"/>
                  </a:lnTo>
                  <a:lnTo>
                    <a:pt x="81661" y="6826"/>
                  </a:lnTo>
                  <a:lnTo>
                    <a:pt x="81661" y="13652"/>
                  </a:lnTo>
                  <a:cubicBezTo>
                    <a:pt x="43561" y="13652"/>
                    <a:pt x="12700" y="46690"/>
                    <a:pt x="12700" y="87373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37" name="TextBox 37"/>
          <p:cNvSpPr txBox="1"/>
          <p:nvPr/>
        </p:nvSpPr>
        <p:spPr>
          <a:xfrm>
            <a:off x="9579621" y="3396790"/>
            <a:ext cx="244962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79"/>
              </a:lnSpc>
            </a:pPr>
            <a:r>
              <a:rPr lang="en-US" sz="1674" b="1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Driver Adoption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579621" y="3740074"/>
            <a:ext cx="3653879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23"/>
              </a:lnSpc>
            </a:pPr>
            <a:r>
              <a:rPr lang="en-US" sz="1374" b="1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Risk:</a:t>
            </a:r>
            <a:r>
              <a:rPr lang="en-US" sz="1374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 Some drivers may resist using the smartphone app.</a:t>
            </a:r>
          </a:p>
          <a:p>
            <a:pPr algn="just">
              <a:lnSpc>
                <a:spcPts val="1624"/>
              </a:lnSpc>
            </a:pPr>
            <a:r>
              <a:rPr lang="en-US" sz="1375" b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Strategy:</a:t>
            </a:r>
            <a:r>
              <a:rPr lang="en-US" sz="1375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 Implement driver incentives (e.g., fuel cards, bonuses) for consistent usage.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3280529" y="4768139"/>
            <a:ext cx="3940671" cy="1518361"/>
            <a:chOff x="0" y="0"/>
            <a:chExt cx="5254228" cy="2024481"/>
          </a:xfrm>
        </p:grpSpPr>
        <p:sp>
          <p:nvSpPr>
            <p:cNvPr id="40" name="Freeform 40"/>
            <p:cNvSpPr/>
            <p:nvPr/>
          </p:nvSpPr>
          <p:spPr>
            <a:xfrm>
              <a:off x="6350" y="7520"/>
              <a:ext cx="5241544" cy="2009452"/>
            </a:xfrm>
            <a:custGeom>
              <a:avLst/>
              <a:gdLst/>
              <a:ahLst/>
              <a:cxnLst/>
              <a:rect l="l" t="t" r="r" b="b"/>
              <a:pathLst>
                <a:path w="5241544" h="2009452">
                  <a:moveTo>
                    <a:pt x="0" y="0"/>
                  </a:moveTo>
                  <a:lnTo>
                    <a:pt x="5241544" y="0"/>
                  </a:lnTo>
                  <a:lnTo>
                    <a:pt x="5241544" y="2009451"/>
                  </a:lnTo>
                  <a:lnTo>
                    <a:pt x="0" y="2009451"/>
                  </a:lnTo>
                  <a:close/>
                </a:path>
              </a:pathLst>
            </a:custGeom>
            <a:solidFill>
              <a:srgbClr val="A89DE6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0"/>
              <a:ext cx="5254244" cy="2024490"/>
            </a:xfrm>
            <a:custGeom>
              <a:avLst/>
              <a:gdLst/>
              <a:ahLst/>
              <a:cxnLst/>
              <a:rect l="l" t="t" r="r" b="b"/>
              <a:pathLst>
                <a:path w="5254244" h="2024490">
                  <a:moveTo>
                    <a:pt x="6350" y="0"/>
                  </a:moveTo>
                  <a:lnTo>
                    <a:pt x="5247894" y="0"/>
                  </a:lnTo>
                  <a:cubicBezTo>
                    <a:pt x="5251450" y="0"/>
                    <a:pt x="5254244" y="3309"/>
                    <a:pt x="5254244" y="7520"/>
                  </a:cubicBezTo>
                  <a:lnTo>
                    <a:pt x="5254244" y="2016971"/>
                  </a:lnTo>
                  <a:cubicBezTo>
                    <a:pt x="5254244" y="2021183"/>
                    <a:pt x="5251450" y="2024490"/>
                    <a:pt x="5247894" y="2024490"/>
                  </a:cubicBezTo>
                  <a:lnTo>
                    <a:pt x="6350" y="2024490"/>
                  </a:lnTo>
                  <a:cubicBezTo>
                    <a:pt x="2794" y="2024490"/>
                    <a:pt x="0" y="2021183"/>
                    <a:pt x="0" y="2016971"/>
                  </a:cubicBezTo>
                  <a:lnTo>
                    <a:pt x="0" y="7520"/>
                  </a:lnTo>
                  <a:cubicBezTo>
                    <a:pt x="0" y="3309"/>
                    <a:pt x="2794" y="0"/>
                    <a:pt x="6350" y="0"/>
                  </a:cubicBezTo>
                  <a:moveTo>
                    <a:pt x="6350" y="15040"/>
                  </a:moveTo>
                  <a:lnTo>
                    <a:pt x="6350" y="7520"/>
                  </a:lnTo>
                  <a:lnTo>
                    <a:pt x="12700" y="7520"/>
                  </a:lnTo>
                  <a:lnTo>
                    <a:pt x="12700" y="2016971"/>
                  </a:lnTo>
                  <a:lnTo>
                    <a:pt x="6350" y="2016971"/>
                  </a:lnTo>
                  <a:lnTo>
                    <a:pt x="6350" y="2009452"/>
                  </a:lnTo>
                  <a:lnTo>
                    <a:pt x="5247894" y="2009452"/>
                  </a:lnTo>
                  <a:lnTo>
                    <a:pt x="5247894" y="2016971"/>
                  </a:lnTo>
                  <a:lnTo>
                    <a:pt x="5241544" y="2016971"/>
                  </a:lnTo>
                  <a:lnTo>
                    <a:pt x="5241544" y="7520"/>
                  </a:lnTo>
                  <a:lnTo>
                    <a:pt x="5247894" y="7520"/>
                  </a:lnTo>
                  <a:lnTo>
                    <a:pt x="5247894" y="15040"/>
                  </a:lnTo>
                  <a:lnTo>
                    <a:pt x="6350" y="1504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42" name="TextBox 42"/>
          <p:cNvSpPr txBox="1"/>
          <p:nvPr/>
        </p:nvSpPr>
        <p:spPr>
          <a:xfrm>
            <a:off x="13395276" y="5207438"/>
            <a:ext cx="3654029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1374" b="1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Risk:</a:t>
            </a:r>
            <a:r>
              <a:rPr lang="en-US" sz="1374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 Poor GPS signals in densely congested urban areas.</a:t>
            </a:r>
          </a:p>
          <a:p>
            <a:pPr algn="l">
              <a:lnSpc>
                <a:spcPts val="1624"/>
              </a:lnSpc>
            </a:pPr>
            <a:r>
              <a:rPr lang="en-US" sz="1375" b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Strategy:</a:t>
            </a:r>
            <a:r>
              <a:rPr lang="en-US" sz="1375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 Employ hybrid tracking, combining GPS with geofencing and traffic landmark checks.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9340601" y="6356597"/>
            <a:ext cx="3940522" cy="1589377"/>
            <a:chOff x="0" y="0"/>
            <a:chExt cx="5254030" cy="2119170"/>
          </a:xfrm>
        </p:grpSpPr>
        <p:sp>
          <p:nvSpPr>
            <p:cNvPr id="44" name="Freeform 44"/>
            <p:cNvSpPr/>
            <p:nvPr/>
          </p:nvSpPr>
          <p:spPr>
            <a:xfrm>
              <a:off x="6350" y="6744"/>
              <a:ext cx="5241417" cy="2105555"/>
            </a:xfrm>
            <a:custGeom>
              <a:avLst/>
              <a:gdLst/>
              <a:ahLst/>
              <a:cxnLst/>
              <a:rect l="l" t="t" r="r" b="b"/>
              <a:pathLst>
                <a:path w="5241417" h="2105555">
                  <a:moveTo>
                    <a:pt x="0" y="79582"/>
                  </a:moveTo>
                  <a:cubicBezTo>
                    <a:pt x="0" y="35610"/>
                    <a:pt x="33655" y="0"/>
                    <a:pt x="75311" y="0"/>
                  </a:cubicBezTo>
                  <a:lnTo>
                    <a:pt x="5166106" y="0"/>
                  </a:lnTo>
                  <a:cubicBezTo>
                    <a:pt x="5207635" y="0"/>
                    <a:pt x="5241417" y="35610"/>
                    <a:pt x="5241417" y="79582"/>
                  </a:cubicBezTo>
                  <a:lnTo>
                    <a:pt x="5241417" y="2025973"/>
                  </a:lnTo>
                  <a:cubicBezTo>
                    <a:pt x="5241417" y="2069946"/>
                    <a:pt x="5207762" y="2105556"/>
                    <a:pt x="5166106" y="2105556"/>
                  </a:cubicBezTo>
                  <a:lnTo>
                    <a:pt x="75311" y="2105556"/>
                  </a:lnTo>
                  <a:cubicBezTo>
                    <a:pt x="33782" y="2105556"/>
                    <a:pt x="0" y="2069946"/>
                    <a:pt x="0" y="2025973"/>
                  </a:cubicBezTo>
                  <a:close/>
                </a:path>
              </a:pathLst>
            </a:custGeom>
            <a:solidFill>
              <a:srgbClr val="A89DE6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0" y="0"/>
              <a:ext cx="5254117" cy="2119044"/>
            </a:xfrm>
            <a:custGeom>
              <a:avLst/>
              <a:gdLst/>
              <a:ahLst/>
              <a:cxnLst/>
              <a:rect l="l" t="t" r="r" b="b"/>
              <a:pathLst>
                <a:path w="5254117" h="2119044">
                  <a:moveTo>
                    <a:pt x="0" y="86326"/>
                  </a:moveTo>
                  <a:cubicBezTo>
                    <a:pt x="0" y="38712"/>
                    <a:pt x="36576" y="0"/>
                    <a:pt x="81661" y="0"/>
                  </a:cubicBezTo>
                  <a:lnTo>
                    <a:pt x="5172456" y="0"/>
                  </a:lnTo>
                  <a:lnTo>
                    <a:pt x="5172456" y="6744"/>
                  </a:lnTo>
                  <a:lnTo>
                    <a:pt x="5172456" y="0"/>
                  </a:lnTo>
                  <a:cubicBezTo>
                    <a:pt x="5217541" y="0"/>
                    <a:pt x="5254117" y="38712"/>
                    <a:pt x="5254117" y="86326"/>
                  </a:cubicBezTo>
                  <a:lnTo>
                    <a:pt x="5247767" y="86326"/>
                  </a:lnTo>
                  <a:lnTo>
                    <a:pt x="5254117" y="86326"/>
                  </a:lnTo>
                  <a:lnTo>
                    <a:pt x="5254117" y="2032717"/>
                  </a:lnTo>
                  <a:lnTo>
                    <a:pt x="5247767" y="2032717"/>
                  </a:lnTo>
                  <a:lnTo>
                    <a:pt x="5254117" y="2032717"/>
                  </a:lnTo>
                  <a:cubicBezTo>
                    <a:pt x="5254117" y="2080467"/>
                    <a:pt x="5217541" y="2119044"/>
                    <a:pt x="5172456" y="2119044"/>
                  </a:cubicBezTo>
                  <a:lnTo>
                    <a:pt x="5172456" y="2112300"/>
                  </a:lnTo>
                  <a:lnTo>
                    <a:pt x="5172456" y="2119044"/>
                  </a:lnTo>
                  <a:lnTo>
                    <a:pt x="81661" y="2119044"/>
                  </a:lnTo>
                  <a:lnTo>
                    <a:pt x="81661" y="2112300"/>
                  </a:lnTo>
                  <a:lnTo>
                    <a:pt x="81661" y="2119044"/>
                  </a:lnTo>
                  <a:cubicBezTo>
                    <a:pt x="36576" y="2119044"/>
                    <a:pt x="0" y="2080332"/>
                    <a:pt x="0" y="2032717"/>
                  </a:cubicBezTo>
                  <a:lnTo>
                    <a:pt x="0" y="86326"/>
                  </a:lnTo>
                  <a:lnTo>
                    <a:pt x="6350" y="86326"/>
                  </a:lnTo>
                  <a:lnTo>
                    <a:pt x="0" y="86326"/>
                  </a:lnTo>
                  <a:moveTo>
                    <a:pt x="12700" y="86326"/>
                  </a:moveTo>
                  <a:lnTo>
                    <a:pt x="12700" y="2032717"/>
                  </a:lnTo>
                  <a:lnTo>
                    <a:pt x="6350" y="2032717"/>
                  </a:lnTo>
                  <a:lnTo>
                    <a:pt x="12700" y="2032717"/>
                  </a:lnTo>
                  <a:cubicBezTo>
                    <a:pt x="12700" y="2072913"/>
                    <a:pt x="43561" y="2105555"/>
                    <a:pt x="81661" y="2105555"/>
                  </a:cubicBezTo>
                  <a:lnTo>
                    <a:pt x="5172456" y="2105555"/>
                  </a:lnTo>
                  <a:cubicBezTo>
                    <a:pt x="5210556" y="2105555"/>
                    <a:pt x="5241417" y="2072913"/>
                    <a:pt x="5241417" y="2032717"/>
                  </a:cubicBezTo>
                  <a:lnTo>
                    <a:pt x="5241417" y="86326"/>
                  </a:lnTo>
                  <a:cubicBezTo>
                    <a:pt x="5241417" y="46131"/>
                    <a:pt x="5210556" y="13489"/>
                    <a:pt x="5172456" y="13489"/>
                  </a:cubicBezTo>
                  <a:lnTo>
                    <a:pt x="81661" y="13489"/>
                  </a:lnTo>
                  <a:lnTo>
                    <a:pt x="81661" y="6744"/>
                  </a:lnTo>
                  <a:lnTo>
                    <a:pt x="81661" y="13489"/>
                  </a:lnTo>
                  <a:cubicBezTo>
                    <a:pt x="43561" y="13489"/>
                    <a:pt x="12700" y="46131"/>
                    <a:pt x="12700" y="86326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46" name="TextBox 46"/>
          <p:cNvSpPr txBox="1"/>
          <p:nvPr/>
        </p:nvSpPr>
        <p:spPr>
          <a:xfrm>
            <a:off x="9515961" y="6860957"/>
            <a:ext cx="3653879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23"/>
              </a:lnSpc>
            </a:pPr>
            <a:r>
              <a:rPr lang="en-US" sz="1374" b="1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Risk:</a:t>
            </a:r>
            <a:r>
              <a:rPr lang="en-US" sz="1374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 Requires strong cooperation from local transport authorities.</a:t>
            </a:r>
          </a:p>
          <a:p>
            <a:pPr algn="just">
              <a:lnSpc>
                <a:spcPts val="1624"/>
              </a:lnSpc>
            </a:pPr>
            <a:r>
              <a:rPr lang="en-US" sz="1375" b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Strategy:</a:t>
            </a:r>
            <a:r>
              <a:rPr lang="en-US" sz="1375" b="1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 </a:t>
            </a:r>
            <a:r>
              <a:rPr lang="en-US" sz="1375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Provide comprehensive training and onboarding with easy-to-use UI and local language support.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3273240" y="7989742"/>
            <a:ext cx="3940671" cy="1573358"/>
            <a:chOff x="0" y="0"/>
            <a:chExt cx="5254228" cy="2097811"/>
          </a:xfrm>
        </p:grpSpPr>
        <p:sp>
          <p:nvSpPr>
            <p:cNvPr id="48" name="Freeform 48"/>
            <p:cNvSpPr/>
            <p:nvPr/>
          </p:nvSpPr>
          <p:spPr>
            <a:xfrm>
              <a:off x="6350" y="6676"/>
              <a:ext cx="5241544" cy="2084467"/>
            </a:xfrm>
            <a:custGeom>
              <a:avLst/>
              <a:gdLst/>
              <a:ahLst/>
              <a:cxnLst/>
              <a:rect l="l" t="t" r="r" b="b"/>
              <a:pathLst>
                <a:path w="5241544" h="2084467">
                  <a:moveTo>
                    <a:pt x="0" y="0"/>
                  </a:moveTo>
                  <a:lnTo>
                    <a:pt x="5241544" y="0"/>
                  </a:lnTo>
                  <a:lnTo>
                    <a:pt x="5241544" y="2084467"/>
                  </a:lnTo>
                  <a:lnTo>
                    <a:pt x="0" y="2084467"/>
                  </a:lnTo>
                  <a:close/>
                </a:path>
              </a:pathLst>
            </a:custGeom>
            <a:solidFill>
              <a:srgbClr val="A89DE6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5254244" cy="2097819"/>
            </a:xfrm>
            <a:custGeom>
              <a:avLst/>
              <a:gdLst/>
              <a:ahLst/>
              <a:cxnLst/>
              <a:rect l="l" t="t" r="r" b="b"/>
              <a:pathLst>
                <a:path w="5254244" h="2097819">
                  <a:moveTo>
                    <a:pt x="6350" y="0"/>
                  </a:moveTo>
                  <a:lnTo>
                    <a:pt x="5247894" y="0"/>
                  </a:lnTo>
                  <a:cubicBezTo>
                    <a:pt x="5251450" y="0"/>
                    <a:pt x="5254244" y="2938"/>
                    <a:pt x="5254244" y="6676"/>
                  </a:cubicBezTo>
                  <a:lnTo>
                    <a:pt x="5254244" y="2091143"/>
                  </a:lnTo>
                  <a:cubicBezTo>
                    <a:pt x="5254244" y="2094882"/>
                    <a:pt x="5251450" y="2097819"/>
                    <a:pt x="5247894" y="2097819"/>
                  </a:cubicBezTo>
                  <a:lnTo>
                    <a:pt x="6350" y="2097819"/>
                  </a:lnTo>
                  <a:cubicBezTo>
                    <a:pt x="2794" y="2097819"/>
                    <a:pt x="0" y="2094882"/>
                    <a:pt x="0" y="2091143"/>
                  </a:cubicBezTo>
                  <a:lnTo>
                    <a:pt x="0" y="6676"/>
                  </a:lnTo>
                  <a:cubicBezTo>
                    <a:pt x="0" y="2938"/>
                    <a:pt x="2794" y="0"/>
                    <a:pt x="6350" y="0"/>
                  </a:cubicBezTo>
                  <a:moveTo>
                    <a:pt x="6350" y="13353"/>
                  </a:moveTo>
                  <a:lnTo>
                    <a:pt x="6350" y="6676"/>
                  </a:lnTo>
                  <a:lnTo>
                    <a:pt x="12700" y="6676"/>
                  </a:lnTo>
                  <a:lnTo>
                    <a:pt x="12700" y="2091143"/>
                  </a:lnTo>
                  <a:lnTo>
                    <a:pt x="6350" y="2091143"/>
                  </a:lnTo>
                  <a:lnTo>
                    <a:pt x="6350" y="2084467"/>
                  </a:lnTo>
                  <a:lnTo>
                    <a:pt x="5247894" y="2084467"/>
                  </a:lnTo>
                  <a:lnTo>
                    <a:pt x="5247894" y="2091143"/>
                  </a:lnTo>
                  <a:lnTo>
                    <a:pt x="5241544" y="2091143"/>
                  </a:lnTo>
                  <a:lnTo>
                    <a:pt x="5241544" y="6676"/>
                  </a:lnTo>
                  <a:lnTo>
                    <a:pt x="5247894" y="6676"/>
                  </a:lnTo>
                  <a:lnTo>
                    <a:pt x="5247894" y="13353"/>
                  </a:lnTo>
                  <a:lnTo>
                    <a:pt x="6350" y="13353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50" name="TextBox 50"/>
          <p:cNvSpPr txBox="1"/>
          <p:nvPr/>
        </p:nvSpPr>
        <p:spPr>
          <a:xfrm>
            <a:off x="13376821" y="8454955"/>
            <a:ext cx="3654029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1374" b="1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Risk:</a:t>
            </a:r>
            <a:r>
              <a:rPr lang="en-US" sz="1374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 Patchy internet connectivity common in some Tier-2 towns.</a:t>
            </a:r>
          </a:p>
          <a:p>
            <a:pPr algn="l">
              <a:lnSpc>
                <a:spcPts val="1624"/>
              </a:lnSpc>
            </a:pPr>
            <a:r>
              <a:rPr lang="en-US" sz="1375" b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Strategy:</a:t>
            </a:r>
            <a:r>
              <a:rPr lang="en-US" sz="1375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 Incorporate an offline mode, providing last known bus data even during internet drops.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4589858" y="235283"/>
            <a:ext cx="3313680" cy="1684302"/>
            <a:chOff x="0" y="0"/>
            <a:chExt cx="4418240" cy="2245736"/>
          </a:xfrm>
        </p:grpSpPr>
        <p:sp>
          <p:nvSpPr>
            <p:cNvPr id="52" name="Freeform 52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754711" y="303778"/>
            <a:ext cx="16459200" cy="1714500"/>
            <a:chOff x="0" y="0"/>
            <a:chExt cx="21945600" cy="22860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-104775"/>
              <a:ext cx="21945600" cy="2390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3395276" y="4839828"/>
            <a:ext cx="244962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79"/>
              </a:lnSpc>
            </a:pPr>
            <a:r>
              <a:rPr lang="en-US" sz="1674" b="1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GPS Accuracy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515961" y="6506625"/>
            <a:ext cx="244962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79"/>
              </a:lnSpc>
            </a:pPr>
            <a:r>
              <a:rPr lang="en-US" sz="1674" b="1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Admin Coordination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3376821" y="8123555"/>
            <a:ext cx="244962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79"/>
              </a:lnSpc>
            </a:pPr>
            <a:r>
              <a:rPr lang="en-US" sz="1674" b="1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Network Coverage</a:t>
            </a:r>
          </a:p>
        </p:txBody>
      </p:sp>
      <p:pic>
        <p:nvPicPr>
          <p:cNvPr id="60" name="Graphic 59" descr="Puzzle pieces with solid fill">
            <a:extLst>
              <a:ext uri="{FF2B5EF4-FFF2-40B4-BE49-F238E27FC236}">
                <a16:creationId xmlns:a16="http://schemas.microsoft.com/office/drawing/2014/main" id="{7917CB6C-3E6A-576F-9F4B-9CF4818A36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949" y="3366583"/>
            <a:ext cx="784926" cy="784926"/>
          </a:xfrm>
          <a:prstGeom prst="rect">
            <a:avLst/>
          </a:prstGeom>
        </p:spPr>
      </p:pic>
      <p:pic>
        <p:nvPicPr>
          <p:cNvPr id="63" name="Graphic 62" descr="Bar graph with upward trend with solid fill">
            <a:extLst>
              <a:ext uri="{FF2B5EF4-FFF2-40B4-BE49-F238E27FC236}">
                <a16:creationId xmlns:a16="http://schemas.microsoft.com/office/drawing/2014/main" id="{84FA91D4-03D9-46F1-521E-4539FC567E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5730" y="5136565"/>
            <a:ext cx="698451" cy="698451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273058" y="7370229"/>
            <a:ext cx="4689052" cy="266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46"/>
              </a:lnSpc>
            </a:pPr>
            <a:r>
              <a:rPr lang="en-US" sz="3200" b="1" dirty="0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Scalable Infrastructure</a:t>
            </a:r>
          </a:p>
        </p:txBody>
      </p:sp>
      <p:pic>
        <p:nvPicPr>
          <p:cNvPr id="67" name="Graphic 66" descr="Building with solid fill">
            <a:extLst>
              <a:ext uri="{FF2B5EF4-FFF2-40B4-BE49-F238E27FC236}">
                <a16:creationId xmlns:a16="http://schemas.microsoft.com/office/drawing/2014/main" id="{85670B5D-F764-B689-E6A8-61FF4A62CB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6842" y="7015074"/>
            <a:ext cx="683835" cy="608741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13261842" y="3314700"/>
            <a:ext cx="45719" cy="6243399"/>
            <a:chOff x="0" y="0"/>
            <a:chExt cx="25400" cy="842982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5400" cy="8429879"/>
            </a:xfrm>
            <a:custGeom>
              <a:avLst/>
              <a:gdLst/>
              <a:ahLst/>
              <a:cxnLst/>
              <a:rect l="l" t="t" r="r" b="b"/>
              <a:pathLst>
                <a:path w="25400" h="8429879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8417179"/>
                  </a:lnTo>
                  <a:cubicBezTo>
                    <a:pt x="25400" y="8424164"/>
                    <a:pt x="19685" y="8429879"/>
                    <a:pt x="12700" y="8429879"/>
                  </a:cubicBezTo>
                  <a:cubicBezTo>
                    <a:pt x="5715" y="8429879"/>
                    <a:pt x="0" y="8424164"/>
                    <a:pt x="0" y="8417179"/>
                  </a:cubicBezTo>
                  <a:close/>
                </a:path>
              </a:pathLst>
            </a:custGeom>
            <a:solidFill>
              <a:srgbClr val="6269D5"/>
            </a:solid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9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" y="28277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97335" y="3013473"/>
            <a:ext cx="438299" cy="438299"/>
            <a:chOff x="0" y="0"/>
            <a:chExt cx="584398" cy="584398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584454" cy="584454"/>
            </a:xfrm>
            <a:custGeom>
              <a:avLst/>
              <a:gdLst/>
              <a:ahLst/>
              <a:cxnLst/>
              <a:rect l="l" t="t" r="r" b="b"/>
              <a:pathLst>
                <a:path w="584454" h="584454">
                  <a:moveTo>
                    <a:pt x="0" y="0"/>
                  </a:moveTo>
                  <a:lnTo>
                    <a:pt x="584454" y="0"/>
                  </a:lnTo>
                  <a:lnTo>
                    <a:pt x="584454" y="584454"/>
                  </a:lnTo>
                  <a:lnTo>
                    <a:pt x="0" y="584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" b="-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954709" y="3098452"/>
            <a:ext cx="2192090" cy="256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 dirty="0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Commuters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54709" y="3449091"/>
            <a:ext cx="7079754" cy="53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 dirty="0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Experience reduced waiting times and more reliable, stress-free travel for an enhanced daily experience.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253537" y="3013472"/>
            <a:ext cx="438299" cy="438299"/>
            <a:chOff x="0" y="0"/>
            <a:chExt cx="584398" cy="584398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584454" cy="584454"/>
            </a:xfrm>
            <a:custGeom>
              <a:avLst/>
              <a:gdLst/>
              <a:ahLst/>
              <a:cxnLst/>
              <a:rect l="l" t="t" r="r" b="b"/>
              <a:pathLst>
                <a:path w="584454" h="584454">
                  <a:moveTo>
                    <a:pt x="0" y="0"/>
                  </a:moveTo>
                  <a:lnTo>
                    <a:pt x="584454" y="0"/>
                  </a:lnTo>
                  <a:lnTo>
                    <a:pt x="584454" y="584454"/>
                  </a:lnTo>
                  <a:lnTo>
                    <a:pt x="0" y="584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9" b="9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910911" y="3098452"/>
            <a:ext cx="2192090" cy="256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Drivers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10911" y="3449091"/>
            <a:ext cx="7079754" cy="53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Benefit from simplified technology (QR scan + GPS), requiring minimal effort for efficient operations.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97335" y="4408140"/>
            <a:ext cx="438299" cy="438299"/>
            <a:chOff x="0" y="0"/>
            <a:chExt cx="584398" cy="584398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584454" cy="584454"/>
            </a:xfrm>
            <a:custGeom>
              <a:avLst/>
              <a:gdLst/>
              <a:ahLst/>
              <a:cxnLst/>
              <a:rect l="l" t="t" r="r" b="b"/>
              <a:pathLst>
                <a:path w="584454" h="584454">
                  <a:moveTo>
                    <a:pt x="0" y="0"/>
                  </a:moveTo>
                  <a:lnTo>
                    <a:pt x="584454" y="0"/>
                  </a:lnTo>
                  <a:lnTo>
                    <a:pt x="584454" y="584454"/>
                  </a:lnTo>
                  <a:lnTo>
                    <a:pt x="0" y="584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9" b="9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954709" y="4493121"/>
            <a:ext cx="2192090" cy="256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Authorities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54709" y="4843760"/>
            <a:ext cx="7079754" cy="255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Gain real-time fleet visibility, enabling better planning and improved operational efficiency.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253537" y="4408140"/>
            <a:ext cx="438299" cy="438299"/>
            <a:chOff x="0" y="0"/>
            <a:chExt cx="584398" cy="584398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584454" cy="584454"/>
            </a:xfrm>
            <a:custGeom>
              <a:avLst/>
              <a:gdLst/>
              <a:ahLst/>
              <a:cxnLst/>
              <a:rect l="l" t="t" r="r" b="b"/>
              <a:pathLst>
                <a:path w="584454" h="584454">
                  <a:moveTo>
                    <a:pt x="0" y="0"/>
                  </a:moveTo>
                  <a:lnTo>
                    <a:pt x="584454" y="0"/>
                  </a:lnTo>
                  <a:lnTo>
                    <a:pt x="584454" y="584454"/>
                  </a:lnTo>
                  <a:lnTo>
                    <a:pt x="0" y="584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9" b="9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9910911" y="4493121"/>
            <a:ext cx="2192090" cy="256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Cities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10911" y="4843760"/>
            <a:ext cx="7079754" cy="53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Foster higher trust in public transport, leading to reduced reliance on private vehicles and less congestion.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97335" y="5696099"/>
            <a:ext cx="3337172" cy="316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Holistic Benefits of BusGo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87810" y="6297514"/>
            <a:ext cx="5133231" cy="2837706"/>
            <a:chOff x="0" y="0"/>
            <a:chExt cx="6844308" cy="3783608"/>
          </a:xfrm>
        </p:grpSpPr>
        <p:sp>
          <p:nvSpPr>
            <p:cNvPr id="22" name="Freeform 22"/>
            <p:cNvSpPr/>
            <p:nvPr/>
          </p:nvSpPr>
          <p:spPr>
            <a:xfrm>
              <a:off x="12700" y="12700"/>
              <a:ext cx="6819011" cy="3758184"/>
            </a:xfrm>
            <a:custGeom>
              <a:avLst/>
              <a:gdLst/>
              <a:ahLst/>
              <a:cxnLst/>
              <a:rect l="l" t="t" r="r" b="b"/>
              <a:pathLst>
                <a:path w="6819011" h="3758184">
                  <a:moveTo>
                    <a:pt x="0" y="98171"/>
                  </a:moveTo>
                  <a:cubicBezTo>
                    <a:pt x="0" y="43942"/>
                    <a:pt x="44069" y="0"/>
                    <a:pt x="98552" y="0"/>
                  </a:cubicBezTo>
                  <a:lnTo>
                    <a:pt x="6720459" y="0"/>
                  </a:lnTo>
                  <a:cubicBezTo>
                    <a:pt x="6774815" y="0"/>
                    <a:pt x="6819011" y="43942"/>
                    <a:pt x="6819011" y="98171"/>
                  </a:cubicBezTo>
                  <a:lnTo>
                    <a:pt x="6819011" y="3660013"/>
                  </a:lnTo>
                  <a:cubicBezTo>
                    <a:pt x="6819011" y="3714242"/>
                    <a:pt x="6774942" y="3758184"/>
                    <a:pt x="6720459" y="3758184"/>
                  </a:cubicBezTo>
                  <a:lnTo>
                    <a:pt x="98552" y="3758184"/>
                  </a:lnTo>
                  <a:cubicBezTo>
                    <a:pt x="44196" y="3758184"/>
                    <a:pt x="0" y="3714242"/>
                    <a:pt x="0" y="36600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6844411" cy="3783584"/>
            </a:xfrm>
            <a:custGeom>
              <a:avLst/>
              <a:gdLst/>
              <a:ahLst/>
              <a:cxnLst/>
              <a:rect l="l" t="t" r="r" b="b"/>
              <a:pathLst>
                <a:path w="6844411" h="3783584">
                  <a:moveTo>
                    <a:pt x="0" y="110871"/>
                  </a:moveTo>
                  <a:cubicBezTo>
                    <a:pt x="0" y="49657"/>
                    <a:pt x="49784" y="0"/>
                    <a:pt x="111252" y="0"/>
                  </a:cubicBezTo>
                  <a:lnTo>
                    <a:pt x="6733159" y="0"/>
                  </a:lnTo>
                  <a:lnTo>
                    <a:pt x="6733159" y="12700"/>
                  </a:lnTo>
                  <a:lnTo>
                    <a:pt x="6733159" y="0"/>
                  </a:lnTo>
                  <a:cubicBezTo>
                    <a:pt x="6794500" y="0"/>
                    <a:pt x="6844411" y="49657"/>
                    <a:pt x="6844411" y="110871"/>
                  </a:cubicBezTo>
                  <a:lnTo>
                    <a:pt x="6831711" y="110871"/>
                  </a:lnTo>
                  <a:lnTo>
                    <a:pt x="6844411" y="110871"/>
                  </a:lnTo>
                  <a:lnTo>
                    <a:pt x="6844411" y="3672713"/>
                  </a:lnTo>
                  <a:lnTo>
                    <a:pt x="6831711" y="3672713"/>
                  </a:lnTo>
                  <a:lnTo>
                    <a:pt x="6844411" y="3672713"/>
                  </a:lnTo>
                  <a:cubicBezTo>
                    <a:pt x="6844411" y="3734054"/>
                    <a:pt x="6794627" y="3783584"/>
                    <a:pt x="6733159" y="3783584"/>
                  </a:cubicBezTo>
                  <a:lnTo>
                    <a:pt x="6733159" y="3770884"/>
                  </a:lnTo>
                  <a:lnTo>
                    <a:pt x="6733159" y="3783584"/>
                  </a:lnTo>
                  <a:lnTo>
                    <a:pt x="111252" y="3783584"/>
                  </a:lnTo>
                  <a:lnTo>
                    <a:pt x="111252" y="3770884"/>
                  </a:lnTo>
                  <a:lnTo>
                    <a:pt x="111252" y="3783584"/>
                  </a:lnTo>
                  <a:cubicBezTo>
                    <a:pt x="49911" y="3783584"/>
                    <a:pt x="0" y="3733927"/>
                    <a:pt x="0" y="3672713"/>
                  </a:cubicBezTo>
                  <a:lnTo>
                    <a:pt x="0" y="110871"/>
                  </a:lnTo>
                  <a:lnTo>
                    <a:pt x="12700" y="110871"/>
                  </a:lnTo>
                  <a:lnTo>
                    <a:pt x="0" y="110871"/>
                  </a:lnTo>
                  <a:moveTo>
                    <a:pt x="25400" y="110871"/>
                  </a:moveTo>
                  <a:lnTo>
                    <a:pt x="25400" y="3672713"/>
                  </a:lnTo>
                  <a:lnTo>
                    <a:pt x="12700" y="3672713"/>
                  </a:lnTo>
                  <a:lnTo>
                    <a:pt x="25400" y="3672713"/>
                  </a:lnTo>
                  <a:cubicBezTo>
                    <a:pt x="25400" y="3719957"/>
                    <a:pt x="63754" y="3758184"/>
                    <a:pt x="111252" y="3758184"/>
                  </a:cubicBezTo>
                  <a:lnTo>
                    <a:pt x="6733159" y="3758184"/>
                  </a:lnTo>
                  <a:cubicBezTo>
                    <a:pt x="6780530" y="3758184"/>
                    <a:pt x="6819011" y="3719830"/>
                    <a:pt x="6819011" y="3672713"/>
                  </a:cubicBezTo>
                  <a:lnTo>
                    <a:pt x="6819011" y="110871"/>
                  </a:lnTo>
                  <a:cubicBezTo>
                    <a:pt x="6819011" y="63627"/>
                    <a:pt x="6780657" y="25400"/>
                    <a:pt x="6733159" y="25400"/>
                  </a:cubicBezTo>
                  <a:lnTo>
                    <a:pt x="111252" y="25400"/>
                  </a:lnTo>
                  <a:lnTo>
                    <a:pt x="111252" y="12700"/>
                  </a:lnTo>
                  <a:lnTo>
                    <a:pt x="111252" y="25400"/>
                  </a:lnTo>
                  <a:cubicBezTo>
                    <a:pt x="63754" y="25400"/>
                    <a:pt x="25400" y="63754"/>
                    <a:pt x="25400" y="110871"/>
                  </a:cubicBezTo>
                  <a:close/>
                </a:path>
              </a:pathLst>
            </a:custGeom>
            <a:solidFill>
              <a:srgbClr val="A89DE6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316385" y="6326089"/>
            <a:ext cx="5076081" cy="526107"/>
            <a:chOff x="0" y="0"/>
            <a:chExt cx="6768108" cy="70147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768085" cy="701421"/>
            </a:xfrm>
            <a:custGeom>
              <a:avLst/>
              <a:gdLst/>
              <a:ahLst/>
              <a:cxnLst/>
              <a:rect l="l" t="t" r="r" b="b"/>
              <a:pathLst>
                <a:path w="6768085" h="701421">
                  <a:moveTo>
                    <a:pt x="0" y="67691"/>
                  </a:moveTo>
                  <a:cubicBezTo>
                    <a:pt x="0" y="30353"/>
                    <a:pt x="30353" y="0"/>
                    <a:pt x="67691" y="0"/>
                  </a:cubicBezTo>
                  <a:lnTo>
                    <a:pt x="6700393" y="0"/>
                  </a:lnTo>
                  <a:cubicBezTo>
                    <a:pt x="6737858" y="0"/>
                    <a:pt x="6768085" y="30353"/>
                    <a:pt x="6768085" y="67691"/>
                  </a:cubicBezTo>
                  <a:lnTo>
                    <a:pt x="6768085" y="633730"/>
                  </a:lnTo>
                  <a:cubicBezTo>
                    <a:pt x="6768085" y="671195"/>
                    <a:pt x="6737731" y="701421"/>
                    <a:pt x="6700393" y="701421"/>
                  </a:cubicBezTo>
                  <a:lnTo>
                    <a:pt x="67691" y="701421"/>
                  </a:lnTo>
                  <a:cubicBezTo>
                    <a:pt x="30353" y="701421"/>
                    <a:pt x="0" y="671195"/>
                    <a:pt x="0" y="633730"/>
                  </a:cubicBezTo>
                  <a:close/>
                </a:path>
              </a:pathLst>
            </a:custGeom>
            <a:solidFill>
              <a:srgbClr val="A89DE6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3722935" y="6448574"/>
            <a:ext cx="262979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2062" b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91704" y="7359104"/>
            <a:ext cx="4725441" cy="255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Saves 20–40 minutes daily for commuters.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91704" y="7700814"/>
            <a:ext cx="4725441" cy="255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Ensures safer, more predictable journeys.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91704" y="8042522"/>
            <a:ext cx="4725441" cy="255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Enhances public transport accessibility in smaller towns.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6577310" y="6297514"/>
            <a:ext cx="5133231" cy="2837706"/>
            <a:chOff x="0" y="0"/>
            <a:chExt cx="6844308" cy="3783608"/>
          </a:xfrm>
        </p:grpSpPr>
        <p:sp>
          <p:nvSpPr>
            <p:cNvPr id="31" name="Freeform 31"/>
            <p:cNvSpPr/>
            <p:nvPr/>
          </p:nvSpPr>
          <p:spPr>
            <a:xfrm>
              <a:off x="12700" y="12700"/>
              <a:ext cx="6819011" cy="3758184"/>
            </a:xfrm>
            <a:custGeom>
              <a:avLst/>
              <a:gdLst/>
              <a:ahLst/>
              <a:cxnLst/>
              <a:rect l="l" t="t" r="r" b="b"/>
              <a:pathLst>
                <a:path w="6819011" h="3758184">
                  <a:moveTo>
                    <a:pt x="0" y="98171"/>
                  </a:moveTo>
                  <a:cubicBezTo>
                    <a:pt x="0" y="43942"/>
                    <a:pt x="44069" y="0"/>
                    <a:pt x="98552" y="0"/>
                  </a:cubicBezTo>
                  <a:lnTo>
                    <a:pt x="6720459" y="0"/>
                  </a:lnTo>
                  <a:cubicBezTo>
                    <a:pt x="6774815" y="0"/>
                    <a:pt x="6819011" y="43942"/>
                    <a:pt x="6819011" y="98171"/>
                  </a:cubicBezTo>
                  <a:lnTo>
                    <a:pt x="6819011" y="3660013"/>
                  </a:lnTo>
                  <a:cubicBezTo>
                    <a:pt x="6819011" y="3714242"/>
                    <a:pt x="6774942" y="3758184"/>
                    <a:pt x="6720459" y="3758184"/>
                  </a:cubicBezTo>
                  <a:lnTo>
                    <a:pt x="98552" y="3758184"/>
                  </a:lnTo>
                  <a:cubicBezTo>
                    <a:pt x="44196" y="3758184"/>
                    <a:pt x="0" y="3714242"/>
                    <a:pt x="0" y="36600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0"/>
              <a:ext cx="6844411" cy="3783584"/>
            </a:xfrm>
            <a:custGeom>
              <a:avLst/>
              <a:gdLst/>
              <a:ahLst/>
              <a:cxnLst/>
              <a:rect l="l" t="t" r="r" b="b"/>
              <a:pathLst>
                <a:path w="6844411" h="3783584">
                  <a:moveTo>
                    <a:pt x="0" y="110871"/>
                  </a:moveTo>
                  <a:cubicBezTo>
                    <a:pt x="0" y="49657"/>
                    <a:pt x="49784" y="0"/>
                    <a:pt x="111252" y="0"/>
                  </a:cubicBezTo>
                  <a:lnTo>
                    <a:pt x="6733159" y="0"/>
                  </a:lnTo>
                  <a:lnTo>
                    <a:pt x="6733159" y="12700"/>
                  </a:lnTo>
                  <a:lnTo>
                    <a:pt x="6733159" y="0"/>
                  </a:lnTo>
                  <a:cubicBezTo>
                    <a:pt x="6794500" y="0"/>
                    <a:pt x="6844411" y="49657"/>
                    <a:pt x="6844411" y="110871"/>
                  </a:cubicBezTo>
                  <a:lnTo>
                    <a:pt x="6831711" y="110871"/>
                  </a:lnTo>
                  <a:lnTo>
                    <a:pt x="6844411" y="110871"/>
                  </a:lnTo>
                  <a:lnTo>
                    <a:pt x="6844411" y="3672713"/>
                  </a:lnTo>
                  <a:lnTo>
                    <a:pt x="6831711" y="3672713"/>
                  </a:lnTo>
                  <a:lnTo>
                    <a:pt x="6844411" y="3672713"/>
                  </a:lnTo>
                  <a:cubicBezTo>
                    <a:pt x="6844411" y="3734054"/>
                    <a:pt x="6794627" y="3783584"/>
                    <a:pt x="6733159" y="3783584"/>
                  </a:cubicBezTo>
                  <a:lnTo>
                    <a:pt x="6733159" y="3770884"/>
                  </a:lnTo>
                  <a:lnTo>
                    <a:pt x="6733159" y="3783584"/>
                  </a:lnTo>
                  <a:lnTo>
                    <a:pt x="111252" y="3783584"/>
                  </a:lnTo>
                  <a:lnTo>
                    <a:pt x="111252" y="3770884"/>
                  </a:lnTo>
                  <a:lnTo>
                    <a:pt x="111252" y="3783584"/>
                  </a:lnTo>
                  <a:cubicBezTo>
                    <a:pt x="49911" y="3783584"/>
                    <a:pt x="0" y="3733927"/>
                    <a:pt x="0" y="3672713"/>
                  </a:cubicBezTo>
                  <a:lnTo>
                    <a:pt x="0" y="110871"/>
                  </a:lnTo>
                  <a:lnTo>
                    <a:pt x="12700" y="110871"/>
                  </a:lnTo>
                  <a:lnTo>
                    <a:pt x="0" y="110871"/>
                  </a:lnTo>
                  <a:moveTo>
                    <a:pt x="25400" y="110871"/>
                  </a:moveTo>
                  <a:lnTo>
                    <a:pt x="25400" y="3672713"/>
                  </a:lnTo>
                  <a:lnTo>
                    <a:pt x="12700" y="3672713"/>
                  </a:lnTo>
                  <a:lnTo>
                    <a:pt x="25400" y="3672713"/>
                  </a:lnTo>
                  <a:cubicBezTo>
                    <a:pt x="25400" y="3719957"/>
                    <a:pt x="63754" y="3758184"/>
                    <a:pt x="111252" y="3758184"/>
                  </a:cubicBezTo>
                  <a:lnTo>
                    <a:pt x="6733159" y="3758184"/>
                  </a:lnTo>
                  <a:cubicBezTo>
                    <a:pt x="6780530" y="3758184"/>
                    <a:pt x="6819011" y="3719830"/>
                    <a:pt x="6819011" y="3672713"/>
                  </a:cubicBezTo>
                  <a:lnTo>
                    <a:pt x="6819011" y="110871"/>
                  </a:lnTo>
                  <a:cubicBezTo>
                    <a:pt x="6819011" y="63627"/>
                    <a:pt x="6780657" y="25400"/>
                    <a:pt x="6733159" y="25400"/>
                  </a:cubicBezTo>
                  <a:lnTo>
                    <a:pt x="111252" y="25400"/>
                  </a:lnTo>
                  <a:lnTo>
                    <a:pt x="111252" y="12700"/>
                  </a:lnTo>
                  <a:lnTo>
                    <a:pt x="111252" y="25400"/>
                  </a:lnTo>
                  <a:cubicBezTo>
                    <a:pt x="63754" y="25400"/>
                    <a:pt x="25400" y="63754"/>
                    <a:pt x="25400" y="110871"/>
                  </a:cubicBezTo>
                  <a:close/>
                </a:path>
              </a:pathLst>
            </a:custGeom>
            <a:solidFill>
              <a:srgbClr val="A89DE6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6605885" y="6326089"/>
            <a:ext cx="5076081" cy="526107"/>
            <a:chOff x="0" y="0"/>
            <a:chExt cx="6768108" cy="70147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768085" cy="701421"/>
            </a:xfrm>
            <a:custGeom>
              <a:avLst/>
              <a:gdLst/>
              <a:ahLst/>
              <a:cxnLst/>
              <a:rect l="l" t="t" r="r" b="b"/>
              <a:pathLst>
                <a:path w="6768085" h="701421">
                  <a:moveTo>
                    <a:pt x="0" y="67691"/>
                  </a:moveTo>
                  <a:cubicBezTo>
                    <a:pt x="0" y="30353"/>
                    <a:pt x="30353" y="0"/>
                    <a:pt x="67691" y="0"/>
                  </a:cubicBezTo>
                  <a:lnTo>
                    <a:pt x="6700393" y="0"/>
                  </a:lnTo>
                  <a:cubicBezTo>
                    <a:pt x="6737858" y="0"/>
                    <a:pt x="6768085" y="30353"/>
                    <a:pt x="6768085" y="67691"/>
                  </a:cubicBezTo>
                  <a:lnTo>
                    <a:pt x="6768085" y="633730"/>
                  </a:lnTo>
                  <a:cubicBezTo>
                    <a:pt x="6768085" y="671195"/>
                    <a:pt x="6737731" y="701421"/>
                    <a:pt x="6700393" y="701421"/>
                  </a:cubicBezTo>
                  <a:lnTo>
                    <a:pt x="67691" y="701421"/>
                  </a:lnTo>
                  <a:cubicBezTo>
                    <a:pt x="30353" y="701421"/>
                    <a:pt x="0" y="671195"/>
                    <a:pt x="0" y="633730"/>
                  </a:cubicBezTo>
                  <a:close/>
                </a:path>
              </a:pathLst>
            </a:custGeom>
            <a:solidFill>
              <a:srgbClr val="A89DE6"/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9012436" y="6448574"/>
            <a:ext cx="262979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2062" b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81205" y="7359104"/>
            <a:ext cx="4725441" cy="53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Reduces fuel wastage from unnecessary travel and waiting.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81205" y="7981206"/>
            <a:ext cx="4725441" cy="255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Boosts overall productivity by saving commuter time.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81205" y="8322915"/>
            <a:ext cx="4725441" cy="53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Offers cost-effective deployment using existing infrastructure.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1866810" y="6297514"/>
            <a:ext cx="5133380" cy="2837706"/>
            <a:chOff x="0" y="0"/>
            <a:chExt cx="6844507" cy="3783608"/>
          </a:xfrm>
        </p:grpSpPr>
        <p:sp>
          <p:nvSpPr>
            <p:cNvPr id="40" name="Freeform 40"/>
            <p:cNvSpPr/>
            <p:nvPr/>
          </p:nvSpPr>
          <p:spPr>
            <a:xfrm>
              <a:off x="12700" y="12700"/>
              <a:ext cx="6819138" cy="3758184"/>
            </a:xfrm>
            <a:custGeom>
              <a:avLst/>
              <a:gdLst/>
              <a:ahLst/>
              <a:cxnLst/>
              <a:rect l="l" t="t" r="r" b="b"/>
              <a:pathLst>
                <a:path w="6819138" h="3758184">
                  <a:moveTo>
                    <a:pt x="0" y="98171"/>
                  </a:moveTo>
                  <a:cubicBezTo>
                    <a:pt x="0" y="43942"/>
                    <a:pt x="44069" y="0"/>
                    <a:pt x="98552" y="0"/>
                  </a:cubicBezTo>
                  <a:lnTo>
                    <a:pt x="6720586" y="0"/>
                  </a:lnTo>
                  <a:cubicBezTo>
                    <a:pt x="6774942" y="0"/>
                    <a:pt x="6819138" y="43942"/>
                    <a:pt x="6819138" y="98171"/>
                  </a:cubicBezTo>
                  <a:lnTo>
                    <a:pt x="6819138" y="3660013"/>
                  </a:lnTo>
                  <a:cubicBezTo>
                    <a:pt x="6819138" y="3714242"/>
                    <a:pt x="6775069" y="3758184"/>
                    <a:pt x="6720586" y="3758184"/>
                  </a:cubicBezTo>
                  <a:lnTo>
                    <a:pt x="98552" y="3758184"/>
                  </a:lnTo>
                  <a:cubicBezTo>
                    <a:pt x="44196" y="3758184"/>
                    <a:pt x="0" y="3714242"/>
                    <a:pt x="0" y="36600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0"/>
              <a:ext cx="6844538" cy="3783584"/>
            </a:xfrm>
            <a:custGeom>
              <a:avLst/>
              <a:gdLst/>
              <a:ahLst/>
              <a:cxnLst/>
              <a:rect l="l" t="t" r="r" b="b"/>
              <a:pathLst>
                <a:path w="6844538" h="3783584">
                  <a:moveTo>
                    <a:pt x="0" y="110871"/>
                  </a:moveTo>
                  <a:cubicBezTo>
                    <a:pt x="0" y="49657"/>
                    <a:pt x="49784" y="0"/>
                    <a:pt x="111252" y="0"/>
                  </a:cubicBezTo>
                  <a:lnTo>
                    <a:pt x="6733286" y="0"/>
                  </a:lnTo>
                  <a:lnTo>
                    <a:pt x="6733286" y="12700"/>
                  </a:lnTo>
                  <a:lnTo>
                    <a:pt x="6733286" y="0"/>
                  </a:lnTo>
                  <a:cubicBezTo>
                    <a:pt x="6794627" y="0"/>
                    <a:pt x="6844538" y="49657"/>
                    <a:pt x="6844538" y="110871"/>
                  </a:cubicBezTo>
                  <a:lnTo>
                    <a:pt x="6831838" y="110871"/>
                  </a:lnTo>
                  <a:lnTo>
                    <a:pt x="6844538" y="110871"/>
                  </a:lnTo>
                  <a:lnTo>
                    <a:pt x="6844538" y="3672713"/>
                  </a:lnTo>
                  <a:lnTo>
                    <a:pt x="6831838" y="3672713"/>
                  </a:lnTo>
                  <a:lnTo>
                    <a:pt x="6844538" y="3672713"/>
                  </a:lnTo>
                  <a:cubicBezTo>
                    <a:pt x="6844538" y="3734054"/>
                    <a:pt x="6794754" y="3783584"/>
                    <a:pt x="6733286" y="3783584"/>
                  </a:cubicBezTo>
                  <a:lnTo>
                    <a:pt x="6733286" y="3770884"/>
                  </a:lnTo>
                  <a:lnTo>
                    <a:pt x="6733286" y="3783584"/>
                  </a:lnTo>
                  <a:lnTo>
                    <a:pt x="111252" y="3783584"/>
                  </a:lnTo>
                  <a:lnTo>
                    <a:pt x="111252" y="3770884"/>
                  </a:lnTo>
                  <a:lnTo>
                    <a:pt x="111252" y="3783584"/>
                  </a:lnTo>
                  <a:cubicBezTo>
                    <a:pt x="49911" y="3783584"/>
                    <a:pt x="0" y="3733927"/>
                    <a:pt x="0" y="3672713"/>
                  </a:cubicBezTo>
                  <a:lnTo>
                    <a:pt x="0" y="110871"/>
                  </a:lnTo>
                  <a:lnTo>
                    <a:pt x="12700" y="110871"/>
                  </a:lnTo>
                  <a:lnTo>
                    <a:pt x="0" y="110871"/>
                  </a:lnTo>
                  <a:moveTo>
                    <a:pt x="25400" y="110871"/>
                  </a:moveTo>
                  <a:lnTo>
                    <a:pt x="25400" y="3672713"/>
                  </a:lnTo>
                  <a:lnTo>
                    <a:pt x="12700" y="3672713"/>
                  </a:lnTo>
                  <a:lnTo>
                    <a:pt x="25400" y="3672713"/>
                  </a:lnTo>
                  <a:cubicBezTo>
                    <a:pt x="25400" y="3719957"/>
                    <a:pt x="63754" y="3758184"/>
                    <a:pt x="111252" y="3758184"/>
                  </a:cubicBezTo>
                  <a:lnTo>
                    <a:pt x="6733286" y="3758184"/>
                  </a:lnTo>
                  <a:cubicBezTo>
                    <a:pt x="6780657" y="3758184"/>
                    <a:pt x="6819138" y="3719830"/>
                    <a:pt x="6819138" y="3672713"/>
                  </a:cubicBezTo>
                  <a:lnTo>
                    <a:pt x="6819138" y="110871"/>
                  </a:lnTo>
                  <a:cubicBezTo>
                    <a:pt x="6819138" y="63627"/>
                    <a:pt x="6780784" y="25400"/>
                    <a:pt x="6733286" y="25400"/>
                  </a:cubicBezTo>
                  <a:lnTo>
                    <a:pt x="111252" y="25400"/>
                  </a:lnTo>
                  <a:lnTo>
                    <a:pt x="111252" y="12700"/>
                  </a:lnTo>
                  <a:lnTo>
                    <a:pt x="111252" y="25400"/>
                  </a:lnTo>
                  <a:cubicBezTo>
                    <a:pt x="63754" y="25400"/>
                    <a:pt x="25400" y="63754"/>
                    <a:pt x="25400" y="110871"/>
                  </a:cubicBezTo>
                  <a:close/>
                </a:path>
              </a:pathLst>
            </a:custGeom>
            <a:solidFill>
              <a:srgbClr val="A89DE6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1895385" y="6326089"/>
            <a:ext cx="5076230" cy="526107"/>
            <a:chOff x="0" y="0"/>
            <a:chExt cx="6768307" cy="701477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768211" cy="701421"/>
            </a:xfrm>
            <a:custGeom>
              <a:avLst/>
              <a:gdLst/>
              <a:ahLst/>
              <a:cxnLst/>
              <a:rect l="l" t="t" r="r" b="b"/>
              <a:pathLst>
                <a:path w="6768211" h="701421">
                  <a:moveTo>
                    <a:pt x="0" y="67691"/>
                  </a:moveTo>
                  <a:cubicBezTo>
                    <a:pt x="0" y="30353"/>
                    <a:pt x="30353" y="0"/>
                    <a:pt x="67691" y="0"/>
                  </a:cubicBezTo>
                  <a:lnTo>
                    <a:pt x="6700520" y="0"/>
                  </a:lnTo>
                  <a:cubicBezTo>
                    <a:pt x="6737985" y="0"/>
                    <a:pt x="6768211" y="30353"/>
                    <a:pt x="6768211" y="67691"/>
                  </a:cubicBezTo>
                  <a:lnTo>
                    <a:pt x="6768211" y="633730"/>
                  </a:lnTo>
                  <a:cubicBezTo>
                    <a:pt x="6768211" y="671195"/>
                    <a:pt x="6737858" y="701421"/>
                    <a:pt x="6700520" y="701421"/>
                  </a:cubicBezTo>
                  <a:lnTo>
                    <a:pt x="67691" y="701421"/>
                  </a:lnTo>
                  <a:cubicBezTo>
                    <a:pt x="30353" y="701421"/>
                    <a:pt x="0" y="671195"/>
                    <a:pt x="0" y="633730"/>
                  </a:cubicBezTo>
                  <a:close/>
                </a:path>
              </a:pathLst>
            </a:custGeom>
            <a:solidFill>
              <a:srgbClr val="A89DE6"/>
            </a:solidFill>
          </p:spPr>
        </p:sp>
      </p:grpSp>
      <p:sp>
        <p:nvSpPr>
          <p:cNvPr id="44" name="TextBox 44"/>
          <p:cNvSpPr txBox="1"/>
          <p:nvPr/>
        </p:nvSpPr>
        <p:spPr>
          <a:xfrm>
            <a:off x="14301936" y="6448574"/>
            <a:ext cx="262979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2062" b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3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070705" y="7359104"/>
            <a:ext cx="4725591" cy="255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Encourages greater public transport adoption.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070705" y="7700814"/>
            <a:ext cx="4725591" cy="255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Contributes to a reduction in private vehicle dependency.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070705" y="8322915"/>
            <a:ext cx="4725591" cy="255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Helps cut CO₂ emissions and alleviate urban congestion.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4560451" y="193164"/>
            <a:ext cx="3313680" cy="1684302"/>
            <a:chOff x="0" y="0"/>
            <a:chExt cx="4418240" cy="2245736"/>
          </a:xfrm>
        </p:grpSpPr>
        <p:sp>
          <p:nvSpPr>
            <p:cNvPr id="49" name="Freeform 49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914326" y="215547"/>
            <a:ext cx="16459200" cy="1714500"/>
            <a:chOff x="0" y="0"/>
            <a:chExt cx="21945600" cy="22860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104775"/>
              <a:ext cx="21945600" cy="2390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Times New Roman Bold"/>
                </a:rPr>
                <a:t>IMPACT AND BENEFITS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6972126" y="6984681"/>
            <a:ext cx="244962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79"/>
              </a:lnSpc>
            </a:pPr>
            <a:r>
              <a:rPr lang="en-US" sz="1674" b="1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Economic Benefits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679765" y="7030994"/>
            <a:ext cx="244962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79"/>
              </a:lnSpc>
            </a:pPr>
            <a:r>
              <a:rPr lang="en-US" sz="1674" b="1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Social Benefits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262991" y="6984681"/>
            <a:ext cx="3484152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79"/>
              </a:lnSpc>
            </a:pPr>
            <a:r>
              <a:rPr lang="en-US" sz="1674" b="1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Environmental Benefits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404805" y="2253897"/>
            <a:ext cx="556732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4"/>
              </a:lnSpc>
            </a:pPr>
            <a:r>
              <a:rPr lang="en-US" sz="3074" b="1">
                <a:solidFill>
                  <a:srgbClr val="2725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Target Audience 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B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1781" y="329121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21945600" cy="2390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6400" y="9534530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mo Bold"/>
                </a:rPr>
                <a:t>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557001" y="359319"/>
            <a:ext cx="3313680" cy="1684302"/>
            <a:chOff x="0" y="0"/>
            <a:chExt cx="4418240" cy="2245736"/>
          </a:xfrm>
        </p:grpSpPr>
        <p:sp>
          <p:nvSpPr>
            <p:cNvPr id="9" name="Freeform 9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20E2E2A-EC4A-096D-0B6E-9B7EDA69395C}"/>
              </a:ext>
            </a:extLst>
          </p:cNvPr>
          <p:cNvSpPr txBox="1"/>
          <p:nvPr/>
        </p:nvSpPr>
        <p:spPr>
          <a:xfrm>
            <a:off x="1066800" y="2552700"/>
            <a:ext cx="1531619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7A65EF"/>
                </a:solidFill>
              </a:rPr>
              <a:t>Urban Mobility India (UMI) Report 2024 </a:t>
            </a:r>
            <a:r>
              <a:rPr lang="en-IN" sz="2400" dirty="0"/>
              <a:t>– Ministry of Housing &amp; Urban Affairs Highlights inefficiencies in Tier-2/3 public transport.</a:t>
            </a:r>
          </a:p>
          <a:p>
            <a:r>
              <a:rPr lang="en-IN" sz="2400" dirty="0"/>
              <a:t>🔗 </a:t>
            </a:r>
            <a:r>
              <a:rPr lang="en-IN" sz="2400" dirty="0">
                <a:hlinkClick r:id="rId3"/>
              </a:rPr>
              <a:t>https://urbanmobilityindia.in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7A65EF"/>
                </a:solidFill>
              </a:rPr>
              <a:t>NITI Aayog – Transforming Mobility for India </a:t>
            </a:r>
            <a:r>
              <a:rPr lang="en-IN" sz="2400" dirty="0"/>
              <a:t>- Focus on sustainable mobility and reducing congestion costs.</a:t>
            </a:r>
          </a:p>
          <a:p>
            <a:r>
              <a:rPr lang="en-IN" sz="2400" dirty="0"/>
              <a:t>🔗 </a:t>
            </a:r>
            <a:r>
              <a:rPr lang="en-IN" sz="2400" dirty="0">
                <a:hlinkClick r:id="rId4"/>
              </a:rPr>
              <a:t>https://www.niti.gov.in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7A65EF"/>
                </a:solidFill>
              </a:rPr>
              <a:t>Government of India – Census &amp; City Classification</a:t>
            </a:r>
            <a:r>
              <a:rPr lang="en-IN" sz="2400" dirty="0"/>
              <a:t> (Tier-1/2/3)Defines Tier-2 cities officially.</a:t>
            </a:r>
          </a:p>
          <a:p>
            <a:r>
              <a:rPr lang="en-IN" sz="2400" dirty="0"/>
              <a:t>🔗 </a:t>
            </a:r>
            <a:r>
              <a:rPr lang="en-IN" sz="2400" dirty="0">
                <a:hlinkClick r:id="rId5"/>
              </a:rPr>
              <a:t>https://mohua.gov.in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7A65EF"/>
                </a:solidFill>
              </a:rPr>
              <a:t>IEEE Paper: </a:t>
            </a:r>
            <a:r>
              <a:rPr lang="en-IN" sz="2400" dirty="0"/>
              <a:t>“Real-Time Transit Tracking System in Mexico” (2022)Verified feasibility of low-cost GPS + mobile-based bus tracking.</a:t>
            </a:r>
          </a:p>
          <a:p>
            <a:r>
              <a:rPr lang="en-IN" sz="2400" dirty="0"/>
              <a:t>🔗 </a:t>
            </a:r>
            <a:r>
              <a:rPr lang="en-IN" sz="2400" dirty="0">
                <a:hlinkClick r:id="rId6"/>
              </a:rPr>
              <a:t>https://www.mdpi.com/2079-9292/11/5/834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7A65EF"/>
                </a:solidFill>
              </a:rPr>
              <a:t>Trans-Sense: </a:t>
            </a:r>
            <a:r>
              <a:rPr lang="en-IN" sz="2400" dirty="0"/>
              <a:t>Crowd-sourced Transit Tracking Model (</a:t>
            </a:r>
            <a:r>
              <a:rPr lang="en-IN" sz="2400" dirty="0" err="1"/>
              <a:t>Arxiv</a:t>
            </a:r>
            <a:r>
              <a:rPr lang="en-IN" sz="2400" dirty="0"/>
              <a:t>, 2019) Achieved &gt;90% ETA accuracy using smartphone data in developing countries.</a:t>
            </a:r>
          </a:p>
          <a:p>
            <a:r>
              <a:rPr lang="en-IN" sz="2400" dirty="0"/>
              <a:t>🔗 </a:t>
            </a:r>
            <a:r>
              <a:rPr lang="en-IN" sz="2400" dirty="0">
                <a:hlinkClick r:id="rId7"/>
              </a:rPr>
              <a:t>https://arxiv.org/abs/1906.07575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7A65EF"/>
                </a:solidFill>
              </a:rPr>
              <a:t>Existing Apps Studied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Chalo App – Bus tracking in metros &amp; large cities.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Google Maps Transit – Limited coverage in Tier-2 towns.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714</Words>
  <Application>Microsoft Office PowerPoint</Application>
  <PresentationFormat>Custom</PresentationFormat>
  <Paragraphs>84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Roboto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2025</dc:title>
  <dc:creator>Manjeet Gupta</dc:creator>
  <cp:lastModifiedBy>Manjeet Gupta</cp:lastModifiedBy>
  <cp:revision>8</cp:revision>
  <dcterms:created xsi:type="dcterms:W3CDTF">2006-08-16T00:00:00Z</dcterms:created>
  <dcterms:modified xsi:type="dcterms:W3CDTF">2025-09-25T11:39:52Z</dcterms:modified>
  <dc:identifier>DAGymV5qlXI</dc:identifier>
</cp:coreProperties>
</file>